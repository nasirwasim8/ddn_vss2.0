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5390" cy="73152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6096304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2738"/>
                </a:solidFill>
                <a:latin typeface="Calibri"/>
              </a:rPr>
              <a:t>GTC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DDN Theatre Booth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4206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D2738"/>
                </a:solidFill>
                <a:latin typeface="Calibri"/>
              </a:rPr>
              <a:t>DDN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4748B"/>
                </a:solidFill>
                <a:latin typeface="Calibri"/>
              </a:rPr>
              <a:t>INFINIA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4206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6B900"/>
                </a:solidFill>
                <a:latin typeface="Calibri"/>
              </a:rPr>
              <a:t>×  NVIDIA VSS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Video Search &amp; Summarization 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35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Build.DDN:VSS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005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E293B"/>
                </a:solidFill>
                <a:latin typeface="Calibri"/>
              </a:rPr>
              <a:t>From Video Chaos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7830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D2738"/>
                </a:solidFill>
                <a:latin typeface="Calibri"/>
              </a:rPr>
              <a:t>to Instant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5146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E293B"/>
                </a:solidFill>
                <a:latin typeface="Calibri"/>
              </a:rPr>
              <a:t>Intelligence.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456432"/>
            <a:ext cx="64465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611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AI-powered semantic search across petabyte-scale video.
Natural language. Sub-2 second results. No separate vector DB.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617720"/>
            <a:ext cx="2080260" cy="384048"/>
          </a:xfrm>
          <a:prstGeom prst="rect">
            <a:avLst/>
          </a:prstGeom>
          <a:solidFill>
            <a:srgbClr val="FFEDEE"/>
          </a:solidFill>
          <a:ln w="9525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4663440"/>
            <a:ext cx="18973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2738"/>
                </a:solidFill>
                <a:latin typeface="Calibri"/>
              </a:rPr>
              <a:t>GPU Accelerated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76388" y="4617720"/>
            <a:ext cx="1869948" cy="384048"/>
          </a:xfrm>
          <a:prstGeom prst="rect">
            <a:avLst/>
          </a:prstGeom>
          <a:solidFill>
            <a:srgbClr val="F0F9E6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3548" y="4663440"/>
            <a:ext cx="16870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B900"/>
                </a:solidFill>
                <a:latin typeface="Calibri"/>
              </a:rPr>
              <a:t>Multimodal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47504" y="4617720"/>
            <a:ext cx="155448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84664" y="4663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DDN Native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0292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0292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2738"/>
                </a:solidFill>
                <a:latin typeface="Calibri"/>
              </a:rPr>
              <a:t>02 / 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The Problem with Video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Enterprises sit on petabytes of dark, untagged video. AI teams burn weeks finding edge cases for model fine-tuning.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3657600" cy="4297680"/>
          </a:xfrm>
          <a:prstGeom prst="rect">
            <a:avLst/>
          </a:prstGeom>
          <a:solidFill>
            <a:srgbClr val="FFEDEE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31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E293B"/>
                </a:solidFill>
                <a:latin typeface="Calibri"/>
              </a:rPr>
              <a:t>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44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2738"/>
                </a:solidFill>
                <a:latin typeface="Calibri"/>
              </a:rPr>
              <a:t>Hours of Manual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493008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Analysts scrub through footage frame-by-frame to find critical moments. Traditional CCTV systems have no semantic awareness — only timestamps.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148840"/>
            <a:ext cx="3657600" cy="4297680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331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E293B"/>
                </a:solidFill>
                <a:latin typeface="Calibri"/>
              </a:rP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944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$2M–$5M Wasted Annually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3493008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Manual annotation tooling, vector DB licenses, cloud egress bills and S3 cold-storage tiers compound into runaway infrastructure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2148840"/>
            <a:ext cx="3657600" cy="429768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331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E293B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944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95% Dark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3493008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The vast majority of enterprise video is siloed, unindexed and invisible to AI training pipelines. It's a cost center with zero intelligence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029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029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6B900"/>
                </a:solidFill>
                <a:latin typeface="Calibri"/>
              </a:rPr>
              <a:t>03 /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Type It. Find It. Act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2" cy="777240"/>
          </a:xfrm>
          <a:prstGeom prst="rect">
            <a:avLst/>
          </a:prstGeom>
          <a:solidFill>
            <a:srgbClr val="F0F9E6"/>
          </a:solidFill>
          <a:ln w="1524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Calibri"/>
              </a:rPr>
              <a:t>🔍   "White SUV near Gate 3 between 14:00 and 20:00"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5059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Results  ↓  in under 2 seconds, across every petabyte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07792"/>
            <a:ext cx="2139696" cy="365760"/>
          </a:xfrm>
          <a:prstGeom prst="rect">
            <a:avLst/>
          </a:prstGeom>
          <a:solidFill>
            <a:srgbClr val="F0F9E6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944368"/>
            <a:ext cx="19933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B900"/>
                </a:solidFill>
                <a:latin typeface="Calibri"/>
              </a:rPr>
              <a:t>#vehicle_presence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45536" y="2907792"/>
            <a:ext cx="2244852" cy="365760"/>
          </a:xfrm>
          <a:prstGeom prst="rect">
            <a:avLst/>
          </a:prstGeom>
          <a:solidFill>
            <a:srgbClr val="FFEDEE"/>
          </a:solidFill>
          <a:ln w="9525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2944368"/>
            <a:ext cx="20985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2738"/>
                </a:solidFill>
                <a:latin typeface="Calibri"/>
              </a:rPr>
              <a:t>#restricted_access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3268" y="2907792"/>
            <a:ext cx="2350008" cy="365760"/>
          </a:xfrm>
          <a:prstGeom prst="rect">
            <a:avLst/>
          </a:prstGeom>
          <a:solidFill>
            <a:srgbClr val="FFF8E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2996" y="2944368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#crowd_density_high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6156" y="2907792"/>
            <a:ext cx="1929384" cy="365760"/>
          </a:xfrm>
          <a:prstGeom prst="rect">
            <a:avLst/>
          </a:prstGeom>
          <a:solidFill>
            <a:srgbClr val="EFF6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5884" y="294436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#low_visibility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18420" y="2907792"/>
            <a:ext cx="2034540" cy="36576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28148" y="2944368"/>
            <a:ext cx="18882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#pedestrian_zone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435840" y="2907792"/>
            <a:ext cx="2034540" cy="365760"/>
          </a:xfrm>
          <a:prstGeom prst="rect">
            <a:avLst/>
          </a:prstGeom>
          <a:solidFill>
            <a:srgbClr val="F5F3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45568" y="2944368"/>
            <a:ext cx="18882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#gate3_perimeter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56432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75887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6B900"/>
                </a:solidFill>
                <a:latin typeface="Calibri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703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Semantic Understanding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60520"/>
            <a:ext cx="3566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Maps synonyms automatically — 'car crash' finds 'vehicle collision'. Understands scenes, objects, behaviors and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675887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D2738"/>
                </a:solidFill>
                <a:latin typeface="Calibri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03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2738"/>
                </a:solidFill>
                <a:latin typeface="Calibri"/>
              </a:rPr>
              <a:t>GPU-Accelerated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3566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BLIP captions every keyframe. CLIP creates semantic embeddings co-located with video in DDN Infinia. Zero data movement.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675887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B82F6"/>
                </a:solidFill>
                <a:latin typeface="Calibri"/>
              </a:rPr>
              <a:t>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7033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LLM Enrichment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160520"/>
            <a:ext cx="3566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GPT-4o-mini or Ollama 7B generates narrative summaries and AI search tags automatically on every upload.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029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04 /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How It Works Under the 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075688" cy="1417320"/>
          </a:xfrm>
          <a:prstGeom prst="rect">
            <a:avLst/>
          </a:prstGeom>
          <a:solidFill>
            <a:srgbClr val="FFEDEE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2738"/>
                </a:solidFill>
                <a:latin typeface="Calibri"/>
              </a:rPr>
              <a:t>VIDEO
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1488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MP4 / MOV
drop-in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99339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1463040"/>
            <a:ext cx="2075688" cy="1417320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GPU
CHUNKING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1488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Scene-aware
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199339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02936" y="1463040"/>
            <a:ext cx="2075688" cy="1417320"/>
          </a:xfrm>
          <a:prstGeom prst="rect">
            <a:avLst/>
          </a:prstGeom>
          <a:solidFill>
            <a:srgbClr val="F0F9E6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1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B900"/>
                </a:solidFill>
                <a:latin typeface="Calibri"/>
              </a:rPr>
              <a:t>AI
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1488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BLIP captions
CLIP embeds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3" y="199339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52944" y="1463040"/>
            <a:ext cx="2075688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LLM
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1488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GPT-4o-mini
or Ollama 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199339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02952" y="1463040"/>
            <a:ext cx="2075688" cy="14173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8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DDN
INFINIA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1488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Metadata +
vectors native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90672"/>
            <a:ext cx="11183112" cy="5029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145536"/>
            <a:ext cx="11183112" cy="1600200"/>
          </a:xfrm>
          <a:prstGeom prst="rect">
            <a:avLst/>
          </a:prstGeom>
          <a:solidFill>
            <a:srgbClr val="F0F9E6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5526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B900"/>
                </a:solidFill>
                <a:latin typeface="Calibri"/>
              </a:rPr>
              <a:t>DDN Infinia — The Intelligence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●  Distributed key-value store — unlimited metadata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●  GPU-Direct NVMe: disk → GPU with zero CPU bottleneck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3308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●  No separate vector DB — CLIP embeddings stored natively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13308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●  Linear scale: 1PB and 100PB respond identically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2697480" cy="1783080"/>
          </a:xfrm>
          <a:prstGeom prst="rect">
            <a:avLst/>
          </a:prstGeom>
          <a:solidFill>
            <a:srgbClr val="FFEDEE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5102352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2738"/>
                </a:solidFill>
                <a:latin typeface="Calibri"/>
              </a:rPr>
              <a:t>~40% → &gt;85%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5806440"/>
            <a:ext cx="2368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GPU Utilization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6172200"/>
            <a:ext cx="2368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DDN vs. cloud S3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4937760"/>
            <a:ext cx="2697480" cy="1783080"/>
          </a:xfrm>
          <a:prstGeom prst="rect">
            <a:avLst/>
          </a:prstGeom>
          <a:solidFill>
            <a:srgbClr val="F0F9E6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93592" y="5102352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6B900"/>
                </a:solidFill>
                <a:latin typeface="Calibri"/>
              </a:rPr>
              <a:t>&lt; 2 sec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3592" y="5806440"/>
            <a:ext cx="2368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Query 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6172200"/>
            <a:ext cx="2368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PB-scale 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4937760"/>
            <a:ext cx="269748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5102352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  <a:latin typeface="Calibri"/>
              </a:rP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9672" y="5806440"/>
            <a:ext cx="2368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Vector DB 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6172200"/>
            <a:ext cx="2368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Embeddings native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4937760"/>
            <a:ext cx="2697480" cy="17830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5752" y="5102352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5806440"/>
            <a:ext cx="2368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Scale Ceiling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6172200"/>
            <a:ext cx="2368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Linear + seamless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05 / STRATEGIC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Video Semantic Search —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Built on the NVIDIA VSS Blueprint · GTC 2026 Showcase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93392"/>
            <a:ext cx="3611880" cy="464515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Business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296448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578608"/>
            <a:ext cx="29644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Dark Data → Live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1 analyst replaces a 3-person manual tagging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47288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NLP query returns PB-scale results in &lt; 2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22776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AI edge-case curation: weeks → 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98264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Fine-tuning cycles: months →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83480"/>
            <a:ext cx="33375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5120640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Calibri"/>
              </a:rPr>
              <a:t>"Our data estate became an active intelligence asset."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1993392"/>
            <a:ext cx="3611880" cy="4645152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2103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Financial Outcome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9432" y="2542032"/>
            <a:ext cx="1978761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578608"/>
            <a:ext cx="197876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$2M–$5M Eliminated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2971800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$500K–$2M vector DB deployment deferred to 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447288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$800K–$3M/yr cloud egress costs removed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922776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Annotation budget ($2M–$5M) eliminated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398264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CLIP reuse: zero marginal cost per repeat query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4983480"/>
            <a:ext cx="33375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2584" y="5120640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  <a:latin typeface="Calibri"/>
              </a:rPr>
              <a:t>"One infra decision eliminated three budget lines."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0184" y="1993392"/>
            <a:ext cx="3611880" cy="4645152"/>
          </a:xfrm>
          <a:prstGeom prst="rect">
            <a:avLst/>
          </a:prstGeom>
          <a:solidFill>
            <a:srgbClr val="FFEDEE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2103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2738"/>
                </a:solidFill>
                <a:latin typeface="Calibri"/>
              </a:rPr>
              <a:t>AI Infra Impact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13064" y="2542032"/>
            <a:ext cx="278526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2578608"/>
            <a:ext cx="278526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2738"/>
                </a:solidFill>
                <a:latin typeface="Calibri"/>
              </a:rPr>
              <a:t>GPU: 40% → &gt;85% Utilization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3064" y="2971800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Co-located inference — zero I/O starvation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3064" y="3447288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Sub-2s time-to-first-token (TTFT)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3922776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NVIDIA VSS blueprint — no integration debt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4398264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→  Linear horizontal scale — zero rebalancing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67344" y="4983480"/>
            <a:ext cx="33375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6216" y="5120640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D2738"/>
                </a:solidFill>
                <a:latin typeface="Calibri"/>
              </a:rPr>
              <a:t>"GPUs now run at the speed we paid for."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06 / LIVE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What You Will See — Step by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2176272"/>
          </a:xfrm>
          <a:prstGeom prst="rect">
            <a:avLst/>
          </a:prstGeom>
          <a:solidFill>
            <a:srgbClr val="FFEDEE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64792"/>
            <a:ext cx="548640" cy="384048"/>
          </a:xfrm>
          <a:prstGeom prst="rect">
            <a:avLst/>
          </a:prstGeom>
          <a:solidFill>
            <a:srgbClr val="ED2738"/>
          </a:solidFill>
          <a:ln w="9525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83080"/>
            <a:ext cx="512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2738"/>
                </a:solidFill>
                <a:latin typeface="Calibri"/>
              </a:rPr>
              <a:t>Upload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5856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Drag-and-drop any surveillance or enterprise video 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600200"/>
            <a:ext cx="3611880" cy="2176272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2" y="1764792"/>
            <a:ext cx="548640" cy="384048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83080"/>
            <a:ext cx="512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GPU AI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25856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BLIP captions every keyframe. CLIP creates semantic embeddings in &lt; 60s.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0184" y="1600200"/>
            <a:ext cx="3611880" cy="2176272"/>
          </a:xfrm>
          <a:prstGeom prst="rect">
            <a:avLst/>
          </a:prstGeom>
          <a:solidFill>
            <a:srgbClr val="F0F9E6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13064" y="1764792"/>
            <a:ext cx="548640" cy="384048"/>
          </a:xfrm>
          <a:prstGeom prst="rect">
            <a:avLst/>
          </a:prstGeom>
          <a:solidFill>
            <a:srgbClr val="76B900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783080"/>
            <a:ext cx="512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LLM Enrichment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225856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GPT-4o-mini auto-generates narrative summaries and AI search hashtags.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23360"/>
            <a:ext cx="3611880" cy="21762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187952"/>
            <a:ext cx="548640" cy="384048"/>
          </a:xfrm>
          <a:prstGeom prst="rect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06240"/>
            <a:ext cx="512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24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DDN Infinia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68172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Metadata, vectors and video chunks stored natively — zero separate DB.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6552" y="4023360"/>
            <a:ext cx="3611880" cy="217627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99432" y="4187952"/>
            <a:ext cx="548640" cy="384048"/>
          </a:xfrm>
          <a:prstGeom prst="rect">
            <a:avLst/>
          </a:prstGeom>
          <a:solidFill>
            <a:srgbClr val="10B98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206240"/>
            <a:ext cx="512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4224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Semantic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468172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Type any natural language query. Results in under 2 seconds across all assets.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30184" y="4023360"/>
            <a:ext cx="3611880" cy="2176272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13064" y="4187952"/>
            <a:ext cx="548640" cy="384048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4206240"/>
            <a:ext cx="512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4224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Inline Editing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468172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Refine AI-generated tags on the card. Edits persist to Infinia instantly.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029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07 / PERFORMANCE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AI Infrastructure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75569"/>
                </a:solidFill>
                <a:latin typeface="Calibri"/>
              </a:rPr>
              <a:t>GPU Utilization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Cloud S3  (AWS / Azure)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048256"/>
            <a:ext cx="7315200" cy="3200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048256"/>
            <a:ext cx="3291840" cy="320040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4825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2738"/>
                </a:solidFill>
                <a:latin typeface="Calibri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DDN Infinia (co-located)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852928"/>
            <a:ext cx="7315200" cy="3200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2852928"/>
            <a:ext cx="6217920" cy="3200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93807" y="28529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B900"/>
                </a:solidFill>
                <a:latin typeface="Calibri"/>
              </a:rPr>
              <a:t>&gt;85%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75887"/>
            <a:ext cx="1118311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673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~$1.4 million/month savings at 1,000 GPU fleet   ·   DDN vs. Cloud S3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79392"/>
            <a:ext cx="2697480" cy="2377440"/>
          </a:xfrm>
          <a:prstGeom prst="rect">
            <a:avLst/>
          </a:prstGeom>
          <a:solidFill>
            <a:srgbClr val="FFEDEE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443983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2738"/>
                </a:solidFill>
                <a:latin typeface="Calibri"/>
              </a:rPr>
              <a:t>&lt; 2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148072"/>
            <a:ext cx="2368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Query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513831"/>
            <a:ext cx="2368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Sub-2s semantic search
across full PB archive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4279392"/>
            <a:ext cx="2697480" cy="2377440"/>
          </a:xfrm>
          <a:prstGeom prst="rect">
            <a:avLst/>
          </a:prstGeom>
          <a:solidFill>
            <a:srgbClr val="F0F9E6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4443983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6B900"/>
                </a:solidFill>
                <a:latin typeface="Calibri"/>
              </a:rPr>
              <a:t>&gt;85%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5148072"/>
            <a:ext cx="2368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GPU Utilization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5513831"/>
            <a:ext cx="2368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Sustained — vs. ~40%
with cloud S3 egress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279392"/>
            <a:ext cx="269748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443983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  <a:latin typeface="Calibri"/>
              </a:rP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5148072"/>
            <a:ext cx="2368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Vector DB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513831"/>
            <a:ext cx="2368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CLIP embeddings native
to Infinia — zero extra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4279392"/>
            <a:ext cx="269748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4443983"/>
            <a:ext cx="2368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5148072"/>
            <a:ext cx="2368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Scale Ceiling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5513831"/>
            <a:ext cx="2368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1PB and 100PB respond
identically — no ceiling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0292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0292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2738"/>
                </a:solidFill>
                <a:latin typeface="Calibri"/>
              </a:rPr>
              <a:t>08 / DDN INFINIA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Why Infinia is the Right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9344"/>
            <a:ext cx="45720" cy="658368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934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Distributed Key-Value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Not a file system — not block storage.
Object + infinite metadata as one native primitive.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45720" cy="658368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Unlimited 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AI summaries, CLIP vectors, semantic tags and
scene classifications live on the object itself.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47872"/>
            <a:ext cx="45720" cy="658368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GPU-Direct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2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NVMe-over-Fabrics. Frames move disk→GPU
with zero CPU bottleneck — line-speed I/O.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17136"/>
            <a:ext cx="45720" cy="658368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1713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Flat Namespace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82896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 PB and 100 PB respond identically.
No tiering. No cold-data delays. No ceiling.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486400"/>
            <a:ext cx="45720" cy="658368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8640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S3-Compatible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52160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Drop-in replacement. Works with every AI
framework without modification.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572768"/>
            <a:ext cx="5212080" cy="5074920"/>
          </a:xfrm>
          <a:prstGeom prst="rect">
            <a:avLst/>
          </a:prstGeom>
          <a:solidFill>
            <a:srgbClr val="FFEDEE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627632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D2738"/>
                </a:solidFill>
                <a:latin typeface="Calibri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5146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Most AI video platforms hit a wall at scale — because traditional object storage treats metadata as an afterthought. You get a file, a filename, and a timestamp. That’s it.
Infinia is fundamentally different. Every video asset carries rich, structured metadata — AI-generated summaries, semantic tags, vector embeddings, scene classifications — all indexed and queryable alongside the object itself.
The data knows what it contains. The retrieval is not a post-processing step. It’s native.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6304" cy="5029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09 /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Calibri"/>
              </a:rPr>
              <a:t>Who Needs This — And Why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31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611880" cy="2304288"/>
          </a:xfrm>
          <a:prstGeom prst="rect">
            <a:avLst/>
          </a:prstGeom>
          <a:solidFill>
            <a:srgbClr val="FFEDEE"/>
          </a:solidFill>
          <a:ln w="12700">
            <a:solidFill>
              <a:srgbClr val="ED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55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585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2738"/>
                </a:solidFill>
                <a:latin typeface="Calibri"/>
              </a:rPr>
              <a:t>Surveillance &amp; Public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432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Instant semantic retrieval across thousands of camera feeds.
Incident response: hours → seconds.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1572768"/>
            <a:ext cx="3611880" cy="2304288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55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585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Autonomous Vehicle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432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Find rare edge cases in PBs of dashcam footage (fog, near-misses) with one NLP query.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0184" y="1572768"/>
            <a:ext cx="3611880" cy="2304288"/>
          </a:xfrm>
          <a:prstGeom prst="rect">
            <a:avLst/>
          </a:prstGeom>
          <a:solidFill>
            <a:srgbClr val="F0F9E6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755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2585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Robotics &amp; Manufacturing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7432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Surface anomalies across factory floor footage for model fine-tuning and quality assurance.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59936"/>
            <a:ext cx="3611880" cy="230428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24281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745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Media &amp; Broadcast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23036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Editorial teams search entire archives by scene description, object or sentiment — instantly.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6552" y="4059936"/>
            <a:ext cx="3611880" cy="230428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24281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745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Healthcare &amp; Life Sciences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23036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Surgical video retrieval by procedure type, anatomy region or instrument identification.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0184" y="4059936"/>
            <a:ext cx="3611880" cy="2304288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424281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745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Smart Cities &amp;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523036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Cross-camera semantic search across urban sensor networks for real-time situational awareness.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57416"/>
            <a:ext cx="12191695" cy="3657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784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Build.DDN:VSS  ·  GTC 2026  ·  DDN Theatre Booth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784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57784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ED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2834640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2738"/>
                </a:solidFill>
                <a:latin typeface="Calibri"/>
              </a:rPr>
              <a:t>GTC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DDN Theatre Booth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466344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Abu Dhabi's infrastructure
is world-class.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Your video intelligence
should match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466344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5876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●  Scan QR to access the 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425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●  Talk to us about a proof of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974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●  Build.DDN.com for full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  <a:latin typeface="Calibri"/>
              </a:rPr>
              <a:t>"Let me show you how."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0"/>
            <a:ext cx="661385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0"/>
            <a:ext cx="661385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0972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E293B"/>
                </a:solidFill>
                <a:latin typeface="Calibri"/>
              </a:rPr>
              <a:t>Build.DDN:VSS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2996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Calibri"/>
              </a:rPr>
              <a:t>Multimodal Semantic Video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651760"/>
            <a:ext cx="55778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D2738"/>
                </a:solidFill>
                <a:latin typeface="Calibri"/>
              </a:rPr>
              <a:t>DDN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834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64748B"/>
                </a:solidFill>
                <a:latin typeface="Calibri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34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6B900"/>
                </a:solidFill>
                <a:latin typeface="Calibri"/>
              </a:rPr>
              <a:t>NVIDIA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74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INFINIA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4747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VSS Blueprint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041648"/>
            <a:ext cx="55778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22452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2738"/>
                </a:solidFill>
                <a:latin typeface="Calibri"/>
              </a:rPr>
              <a:t>&lt; 2s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results at any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22452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2738"/>
                </a:solidFill>
                <a:latin typeface="Calibri"/>
              </a:rPr>
              <a:t>&gt;85%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GPU utilization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22452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2738"/>
                </a:solidFill>
                <a:latin typeface="Calibri"/>
              </a:rP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vector database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64922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Powered by NVIDIA GPU  ·  Stored on DDN Infinia  ·  GTC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