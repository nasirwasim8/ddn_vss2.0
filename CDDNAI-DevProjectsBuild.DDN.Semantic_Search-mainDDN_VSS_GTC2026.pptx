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3657600"/>
            <a:ext cx="6400800" cy="457200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-914400"/>
            <a:ext cx="6400800" cy="4572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029200" cy="457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0"/>
            <a:ext cx="7162495" cy="457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365760"/>
            <a:ext cx="3054096" cy="274320"/>
          </a:xfrm>
          <a:prstGeom prst="rect">
            <a:avLst/>
          </a:prstGeom>
          <a:noFill/>
          <a:ln w="952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402336"/>
            <a:ext cx="2871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D34D"/>
                </a:solidFill>
                <a:latin typeface="Helvetica Neue"/>
              </a:rPr>
              <a:t>  GTC 2026 — DDN Theatre Booth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Helvetica Neue"/>
              </a:rPr>
              <a:t>From Video 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CD34D"/>
                </a:solidFill>
                <a:latin typeface="Helvetica Neue"/>
              </a:rPr>
              <a:t>to Instant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3B3"/>
                </a:solidFill>
                <a:latin typeface="Helvetica Neue"/>
              </a:rPr>
              <a:t>AI-powered semantic search across petabyte-scale video   •   Built on NVIDIA VSS   •   Stored on DDN Infinia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77295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2738"/>
                </a:solidFill>
                <a:latin typeface="Helvetica Neue"/>
              </a:rPr>
              <a:t>DDN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Helvetica Neue"/>
              </a:rPr>
              <a:t>INFINIA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4903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666666"/>
                </a:solidFill>
                <a:latin typeface="Helvetica Neue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B900"/>
                </a:solidFill>
                <a:latin typeface="Helvetica Neue"/>
              </a:rPr>
              <a:t>NVIDIA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Helvetica Neue"/>
              </a:rPr>
              <a:t>VSS Blueprint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Helvetica Neue"/>
              </a:rPr>
              <a:t>Build.DDN:VSS  •  Multimodal Semantic Video Search  •  Demo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Helvetica Neue"/>
              </a:rPr>
              <a:t>⚠ 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The Problem with Video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3B3B3"/>
                </a:solidFill>
                <a:latin typeface="Helvetica Neue"/>
              </a:rPr>
              <a:t>Enterprises sit on petabytes of dark, untagged video.
AI teams burn weeks manually tagging edge cases for model fine-tuning.
Less than 5% of enterprise video is ever queried or indexed.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3611880" cy="3566160"/>
          </a:xfrm>
          <a:prstGeom prst="rect">
            <a:avLst/>
          </a:prstGeom>
          <a:solidFill>
            <a:srgbClr val="141420"/>
          </a:solidFill>
          <a:ln w="635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Helvetica Neue"/>
              </a:rPr>
              <a:t>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2738"/>
                </a:solidFill>
                <a:latin typeface="Helvetica Neue"/>
              </a:rPr>
              <a:t>Hours of Manual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Analysts scrub through footage frame-by-frame—timestamp by timestamp—to find critical moments.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834640"/>
            <a:ext cx="3611880" cy="3566160"/>
          </a:xfrm>
          <a:prstGeom prst="rect">
            <a:avLst/>
          </a:prstGeom>
          <a:solidFill>
            <a:srgbClr val="141420"/>
          </a:solidFill>
          <a:ln w="635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Helvetica Neue"/>
              </a:rP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2738"/>
                </a:solidFill>
                <a:latin typeface="Helvetica Neue"/>
              </a:rPr>
              <a:t>$2M–$5M Wasted Annually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0690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Manual annotation, vector DB licenses and cloud egress bills compound every 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2834640"/>
            <a:ext cx="3611880" cy="3566160"/>
          </a:xfrm>
          <a:prstGeom prst="rect">
            <a:avLst/>
          </a:prstGeom>
          <a:solidFill>
            <a:srgbClr val="141420"/>
          </a:solidFill>
          <a:ln w="635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Helvetica Neue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2738"/>
                </a:solidFill>
                <a:latin typeface="Helvetica Neue"/>
              </a:rPr>
              <a:t>Dark Data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40690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95%+ of enterprise video is siloed, unindexed and invisible to AI training pipelines.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  <a:latin typeface="Helvetica Neue"/>
              </a:rPr>
              <a:t>✦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Helvetica Neue"/>
              </a:rPr>
              <a:t>Type It. Find It. Act On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20240"/>
            <a:ext cx="9448495" cy="777240"/>
          </a:xfrm>
          <a:prstGeom prst="rect">
            <a:avLst/>
          </a:prstGeom>
          <a:solidFill>
            <a:srgbClr val="141420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01168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CD34D"/>
                </a:solidFill>
                <a:latin typeface="Helvetica Neue"/>
              </a:rPr>
              <a:t>🔍   "White SUV near Gate 3 between 14:00 and 20:00"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3B3"/>
                </a:solidFill>
                <a:latin typeface="Helvetica Neue"/>
              </a:rPr>
              <a:t>↓  Results in under 2 seconds  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383280"/>
            <a:ext cx="2075688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410712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#vehicle_collision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3383280"/>
            <a:ext cx="2478024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3410712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#restricted_area_entry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3383280"/>
            <a:ext cx="2176272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410712"/>
            <a:ext cx="2084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#crowd_density_high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3383280"/>
            <a:ext cx="2176272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410712"/>
            <a:ext cx="2084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#low_visibility_fog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26496" y="3383280"/>
            <a:ext cx="2276856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3410712"/>
            <a:ext cx="2185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#pedestrian_crossing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86232" y="3383280"/>
            <a:ext cx="1371600" cy="347472"/>
          </a:xfrm>
          <a:prstGeom prst="rect">
            <a:avLst/>
          </a:prstGeom>
          <a:noFill/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95960" y="34107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  <a:latin typeface="Helvetica Neue"/>
              </a:rPr>
              <a:t>#gate3_area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3B3B3"/>
                </a:solidFill>
                <a:latin typeface="Helvetica Neue"/>
              </a:rPr>
              <a:t>Natural language replaces manual timeline scrubbing.
Semantic understanding maps synonyms — 'car crash' finds 'vehicle collision'.
Built on NVIDIA VSS + DDN INFINIA: the data knows what it contains.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  <a:latin typeface="Helvetica Neue"/>
              </a:rPr>
              <a:t>⬡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Why This Is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057400" cy="1371600"/>
          </a:xfrm>
          <a:prstGeom prst="rect">
            <a:avLst/>
          </a:prstGeom>
          <a:solidFill>
            <a:srgbClr val="141420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2738"/>
                </a:solidFill>
                <a:latin typeface="Helvetica Neue"/>
              </a:rPr>
              <a:t>VIDEO
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Helvetica Neue"/>
              </a:rPr>
              <a:t>Mp4 / MOV
uploaded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116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554480"/>
            <a:ext cx="2057400" cy="1371600"/>
          </a:xfrm>
          <a:prstGeom prst="rect">
            <a:avLst/>
          </a:prstGeom>
          <a:solidFill>
            <a:srgbClr val="14142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664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Helvetica Neue"/>
              </a:rPr>
              <a:t>GPU
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Helvetica Neue"/>
              </a:rPr>
              <a:t>Scene-aware
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Helvetica Neue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54480"/>
            <a:ext cx="2057400" cy="1371600"/>
          </a:xfrm>
          <a:prstGeom prst="rect">
            <a:avLst/>
          </a:prstGeom>
          <a:solidFill>
            <a:srgbClr val="141420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664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Helvetica Neue"/>
              </a:rPr>
              <a:t>AI
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Helvetica Neue"/>
              </a:rPr>
              <a:t>BLIP captions
CLIP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Helvetica Neue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554480"/>
            <a:ext cx="2057400" cy="1371600"/>
          </a:xfrm>
          <a:prstGeom prst="rect">
            <a:avLst/>
          </a:prstGeom>
          <a:solidFill>
            <a:srgbClr val="141420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7" y="1664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Helvetica Neue"/>
              </a:rPr>
              <a:t>LLM
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7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Helvetica Neue"/>
              </a:rPr>
              <a:t>GPT-4o-mini /
Ollama 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0116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Helvetica Neue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554480"/>
            <a:ext cx="2057400" cy="1371600"/>
          </a:xfrm>
          <a:prstGeom prst="rect">
            <a:avLst/>
          </a:prstGeom>
          <a:solidFill>
            <a:srgbClr val="14142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7" y="1664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Helvetica Neue"/>
              </a:rPr>
              <a:t>DDN
INFINIA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7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Helvetica Neue"/>
              </a:rPr>
              <a:t>Metadata + vectors
native storage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11277295" cy="1463040"/>
          </a:xfrm>
          <a:prstGeom prst="rect">
            <a:avLst/>
          </a:prstGeom>
          <a:solidFill>
            <a:srgbClr val="0D1F0D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B900"/>
                </a:solidFill>
                <a:latin typeface="Helvetica Neue"/>
              </a:rPr>
              <a:t>DDN Infinia — The Game Changer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1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●  Distributed key-value store with unlimited metadata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22191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●  GPU-Direct storage — zero CPU bottleneck, frames go disk→GPU at line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6110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●  Storage layer IS the intelligence layer — no separate vector DB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6110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Helvetica Neue"/>
              </a:rPr>
              <a:t>●  Linear scale: 1PB and 100PB respond identically — zero rebalancing, zero downtime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937760"/>
            <a:ext cx="2743200" cy="914400"/>
          </a:xfrm>
          <a:prstGeom prst="rect">
            <a:avLst/>
          </a:prstGeom>
          <a:solidFill>
            <a:srgbClr val="14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5029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Helvetica Neue"/>
              </a:rPr>
              <a:t>~40% → &gt;85%
GPU Utilization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937760"/>
            <a:ext cx="2743200" cy="914400"/>
          </a:xfrm>
          <a:prstGeom prst="rect">
            <a:avLst/>
          </a:prstGeom>
          <a:solidFill>
            <a:srgbClr val="141420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5029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CD34D"/>
                </a:solidFill>
                <a:latin typeface="Helvetica Neue"/>
              </a:rPr>
              <a:t>&lt; 2 sec
Query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937760"/>
            <a:ext cx="2743200" cy="914400"/>
          </a:xfrm>
          <a:prstGeom prst="rect">
            <a:avLst/>
          </a:prstGeom>
          <a:solidFill>
            <a:srgbClr val="141420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5029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2738"/>
                </a:solidFill>
                <a:latin typeface="Helvetica Neue"/>
              </a:rPr>
              <a:t>$0
Vector DB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Helvetica Neue"/>
              </a:rPr>
              <a:t>★ 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Video Semantic Search —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11880" cy="5120640"/>
          </a:xfrm>
          <a:prstGeom prst="rect">
            <a:avLst/>
          </a:prstGeom>
          <a:solidFill>
            <a:srgbClr val="1414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Helvetica Neue"/>
              </a:rPr>
              <a:t>Business Outcome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29968"/>
            <a:ext cx="3246120" cy="292608"/>
          </a:xfrm>
          <a:prstGeom prst="rect">
            <a:avLst/>
          </a:prstGeom>
          <a:noFill/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Helvetica Neue"/>
              </a:rPr>
              <a:t>Dark Data → Live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1 analyst replaces 3-person tagging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NLP query returns PB-scale results in &lt; 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98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Edge-case curation: weeks →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953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AI iteration cycles: months →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572000"/>
            <a:ext cx="3337560" cy="1005840"/>
          </a:xfrm>
          <a:prstGeom prst="rect">
            <a:avLst/>
          </a:prstGeom>
          <a:solidFill>
            <a:srgbClr val="1E1E2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4515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Helvetica Neue"/>
              </a:rPr>
              <a:t>"Our data estate became an active intelligence asset."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508760"/>
            <a:ext cx="3611880" cy="5120640"/>
          </a:xfrm>
          <a:prstGeom prst="rect">
            <a:avLst/>
          </a:prstGeom>
          <a:solidFill>
            <a:srgbClr val="14142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Helvetica Neue"/>
              </a:rPr>
              <a:t>Financial 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2029968"/>
            <a:ext cx="3246120" cy="292608"/>
          </a:xfrm>
          <a:prstGeom prst="rect">
            <a:avLst/>
          </a:prstGeom>
          <a:noFill/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0482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Helvetica Neue"/>
              </a:rPr>
              <a:t>$2M–$5M Eliminated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468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$500K–$2M vector DB deployment deferred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443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$800K–$3M/yr egress costs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4198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$2M–$5M annotation budget eliminated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8953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CLIP embeddings written once → zero marginal cost on repeat queries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4572000"/>
            <a:ext cx="3337560" cy="1005840"/>
          </a:xfrm>
          <a:prstGeom prst="rect">
            <a:avLst/>
          </a:prstGeom>
          <a:solidFill>
            <a:srgbClr val="1E1E2E"/>
          </a:solidFill>
          <a:ln w="381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64515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7316"/>
                </a:solidFill>
                <a:latin typeface="Helvetica Neue"/>
              </a:rPr>
              <a:t>"One infrastructure decision eliminated three budget lines."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1508760"/>
            <a:ext cx="3611880" cy="5120640"/>
          </a:xfrm>
          <a:prstGeom prst="rect">
            <a:avLst/>
          </a:prstGeom>
          <a:solidFill>
            <a:srgbClr val="141420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Helvetica Neue"/>
              </a:rPr>
              <a:t>AI Infra Implications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2029968"/>
            <a:ext cx="3246120" cy="292608"/>
          </a:xfrm>
          <a:prstGeom prst="rect">
            <a:avLst/>
          </a:prstGeom>
          <a:noFill/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20482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Helvetica Neue"/>
              </a:rPr>
              <a:t>GPU Util: 40% → &gt;85%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2468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Co-located inference — zero I/O starvation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29443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Sub-2s time-to-first-token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4198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Linear horizontal scale — no ceiling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38953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→  NVIDIA VSS blueprint native — no integration debt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1624" y="4572000"/>
            <a:ext cx="3337560" cy="1005840"/>
          </a:xfrm>
          <a:prstGeom prst="rect">
            <a:avLst/>
          </a:prstGeom>
          <a:solidFill>
            <a:srgbClr val="1E1E2E"/>
          </a:solidFill>
          <a:ln w="381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464515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87171"/>
                </a:solidFill>
                <a:latin typeface="Helvetica Neue"/>
              </a:rPr>
              <a:t>"GPUs now run at the speed they were purchased to run."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Helvetica Neue"/>
              </a:rPr>
              <a:t>▶  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What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D2738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Upload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Drag-and-drop any surveillance/enterprise video.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CD34D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GPU 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BLIP captions every keyframe. CLIP creates semantic embeddings.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50876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6B900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LLM Enrichment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GPT-4o-mini generates scene summary + AI search tags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DDN INFINIA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Metadata, embeddings and video chunks stored natively — no separate DB.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388620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023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Natural Language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Type any query. Results surface in &lt; 2 seconds across every asset.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3886200"/>
            <a:ext cx="3611880" cy="2103120"/>
          </a:xfrm>
          <a:prstGeom prst="rect">
            <a:avLst/>
          </a:prstGeom>
          <a:solidFill>
            <a:srgbClr val="141420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4023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7171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Edit &amp; Curate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Refine AI tags inline. All edits persist to INFINIA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Helvetica Neue"/>
              </a:rPr>
              <a:t>⚡  GPU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AI Infrastructure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3B3B3"/>
                </a:solidFill>
                <a:latin typeface="Helvetica Neue"/>
              </a:rPr>
              <a:t>GPU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3B3B3"/>
                </a:solidFill>
                <a:latin typeface="Helvetica Neue"/>
              </a:rPr>
              <a:t>Cloud S3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920240"/>
            <a:ext cx="3474720" cy="347472"/>
          </a:xfrm>
          <a:prstGeom prst="rect">
            <a:avLst/>
          </a:prstGeom>
          <a:solidFill>
            <a:srgbClr val="3F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920240"/>
            <a:ext cx="1563624" cy="34747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93852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3B3B3"/>
                </a:solidFill>
                <a:latin typeface="Helvetica Neue"/>
              </a:rPr>
              <a:t>DDN Infinia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423160"/>
            <a:ext cx="3474720" cy="347472"/>
          </a:xfrm>
          <a:prstGeom prst="rect">
            <a:avLst/>
          </a:prstGeom>
          <a:solidFill>
            <a:srgbClr val="1F3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423160"/>
            <a:ext cx="2953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4414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Helvetica Neue"/>
              </a:rPr>
              <a:t>85%+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Helvetica Neue"/>
              </a:rPr>
              <a:t>~$1.4M/month savings at 1,000 GPU fleet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1277295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3383280" cy="2743200"/>
          </a:xfrm>
          <a:prstGeom prst="rect">
            <a:avLst/>
          </a:prstGeom>
          <a:solidFill>
            <a:srgbClr val="141420"/>
          </a:solidFill>
          <a:ln w="952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CD34D"/>
                </a:solidFill>
                <a:latin typeface="Helvetica Neue"/>
              </a:rPr>
              <a:t>&lt; 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Query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Helvetica Neue"/>
              </a:rPr>
              <a:t>Sub-2 second semantic
search across petabytes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657600"/>
            <a:ext cx="3383280" cy="2743200"/>
          </a:xfrm>
          <a:prstGeom prst="rect">
            <a:avLst/>
          </a:prstGeom>
          <a:solidFill>
            <a:srgbClr val="1414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7947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Helvetica Neue"/>
              </a:rPr>
              <a:t>&gt;85%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GPU Utilization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Helvetica Neue"/>
              </a:rPr>
              <a:t>Sustained — up from ~40%
with cloud S3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383280" cy="2743200"/>
          </a:xfrm>
          <a:prstGeom prst="rect">
            <a:avLst/>
          </a:prstGeom>
          <a:solidFill>
            <a:srgbClr val="141420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947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Helvetica Neue"/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Vector DB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Helvetica Neue"/>
              </a:rPr>
              <a:t>CLIP embeddings stored
natively in INFINIA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Helvetica Neue"/>
              </a:rPr>
              <a:t>⬢  DDN INFINIA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Why Infinia is the Right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5720" cy="7315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Distributed Key-Value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56231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Not a file system. Not a block device.
Object + infinite metadata as a single primitive.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78024"/>
            <a:ext cx="45720" cy="7315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Unlimited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254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AI summaries, CLIP vectors, semantic tags
and scene classifications — all native to the object.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47288"/>
            <a:ext cx="45720" cy="7315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47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GPU-Direct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NVMe-over-Fabrics. Frames move disk→GPU
with zero CPU bottleneck. Line-speed I/O.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16552"/>
            <a:ext cx="45720" cy="7315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Flat Namespace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640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1 PB and 100 PB respond identically.
No tiering. No cold-data delays. No ceiling.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85816"/>
            <a:ext cx="45720" cy="7315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85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S3-Compatible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332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Drop-in replacement. Works with every AI
framework without modification.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508760"/>
            <a:ext cx="5212080" cy="5120640"/>
          </a:xfrm>
          <a:prstGeom prst="rect">
            <a:avLst/>
          </a:prstGeom>
          <a:solidFill>
            <a:srgbClr val="0D0D1A"/>
          </a:solidFill>
          <a:ln w="635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ED2738"/>
                </a:solidFill>
                <a:latin typeface="Helvetica Neue"/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3B3B3"/>
                </a:solidFill>
                <a:latin typeface="Helvetica Neue"/>
              </a:rPr>
              <a:t>Most AI video platforms hit a wall at scale — because traditional object storage treats metadata as an afterthought. You get a file, a filename, and a timestamp. That's it.
Infinia is fundamentally different. Every video asset carries rich, structured metadata — AI-generated summaries, semantic tags, vector embeddings, scene classifications — all indexed and queryable alongside the object itself.
The data knows what it contains. The retrieval is not a post-processing step. It's native.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  <a:latin typeface="Helvetica Neue"/>
              </a:rPr>
              <a:t>◈ 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Who Needs This — And Why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2738"/>
                </a:solidFill>
                <a:latin typeface="Helvetica Neue"/>
              </a:rPr>
              <a:t>🚔 Surveillance &amp;
Public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Instant semantic retrieval across
thousands of camera feeds.
Incident response: hours →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508760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7335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Helvetica Neue"/>
              </a:rPr>
              <a:t>🚗 Autonomous Vehicle
AI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Find edge cases in PBs of dashcam
footage — adverse weather, rare
scenarios — in one NLP query.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508760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7335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Helvetica Neue"/>
              </a:rPr>
              <a:t>🤖 Robotics &amp;
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Quickly surface anomalies across
factory floor footage for model
fine-tuning and QA pipelines.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79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3367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Helvetica Neue"/>
              </a:rPr>
              <a:t>🎥 Media &amp;
Broadcast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Editorial teams search entire
archives by scene description,
object, or sentiment —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069079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423367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Helvetica Neue"/>
              </a:rPr>
              <a:t>🏥 Healthcare &amp;
Life Sciences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Surgical video retrieval by
procedure type, anatomy region,
or instrument identification.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4" y="4069079"/>
            <a:ext cx="3611880" cy="2331720"/>
          </a:xfrm>
          <a:prstGeom prst="rect">
            <a:avLst/>
          </a:prstGeom>
          <a:solidFill>
            <a:srgbClr val="1414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423367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Helvetica Neue"/>
              </a:rPr>
              <a:t>🏙️ Smart Cities &amp;
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Helvetica Neue"/>
              </a:rPr>
              <a:t>Cross-camera semantic search
across urban sensor networks
for real-time situational awareness.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457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457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6095390" cy="4572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812280"/>
            <a:ext cx="6096304" cy="457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Helvetica Neue"/>
              </a:rPr>
              <a:t>GTC 2026  •  DDN Theatre Booth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3B3B3"/>
                </a:solidFill>
                <a:latin typeface="Helvetica Neue"/>
              </a:rPr>
              <a:t>Abu Dhabi's infrastructure is world-class.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Neue"/>
              </a:rPr>
              <a:t>Your video intelligence should match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77295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Helvetica Neue"/>
              </a:rPr>
              <a:t>Build.DDN:VSS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42900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3B3B3"/>
                </a:solidFill>
                <a:latin typeface="Helvetica Neue"/>
              </a:rPr>
              <a:t>Multimodal Semantic Video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60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D2738"/>
                </a:solidFill>
                <a:latin typeface="Helvetica Neue"/>
              </a:rPr>
              <a:t>DDN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160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66666"/>
                </a:solidFill>
                <a:latin typeface="Helvetica Neue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6B900"/>
                </a:solidFill>
                <a:latin typeface="Helvetica Neue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98348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3B3B3"/>
                </a:solidFill>
                <a:latin typeface="Helvetica Neue"/>
              </a:rPr>
              <a:t>● Scan QR to access the 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376672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3B3B3"/>
                </a:solidFill>
                <a:latin typeface="Helvetica Neue"/>
              </a:rPr>
              <a:t>● Talk to us about a proof of concept for your video estate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769864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3B3B3"/>
                </a:solidFill>
                <a:latin typeface="Helvetica Neue"/>
              </a:rPr>
              <a:t>● Build.DDN.com for full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26364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CD34D"/>
                </a:solidFill>
                <a:latin typeface="Helvetica Neue"/>
              </a:rPr>
              <a:t>"Let me show you how."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